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Nunito"/>
      <p:regular r:id="rId29"/>
      <p:bold r:id="rId30"/>
      <p:italic r:id="rId31"/>
      <p:boldItalic r:id="rId32"/>
    </p:embeddedFont>
    <p:embeddedFont>
      <p:font typeface="Maven Pro"/>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A04328-3F37-42D6-B8FF-E39223BF86B5}">
  <a:tblStyle styleId="{8DA04328-3F37-42D6-B8FF-E39223BF86B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5.xml"/><Relationship Id="rId33" Type="http://schemas.openxmlformats.org/officeDocument/2006/relationships/font" Target="fonts/MavenPro-regular.fntdata"/><Relationship Id="rId10" Type="http://schemas.openxmlformats.org/officeDocument/2006/relationships/slide" Target="slides/slide4.xml"/><Relationship Id="rId32" Type="http://schemas.openxmlformats.org/officeDocument/2006/relationships/font" Target="fonts/Nunito-boldItalic.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MavenPro-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3cd8e06c0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3cd8e06c0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3cd8e06c0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3cd8e06c0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3cd8e06c0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3cd8e06c0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211d25d63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211d25d63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211d25d635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211d25d635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 they aimed… (note to self-chloe)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3cd8e06c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3cd8e06c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211d25d635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211d25d635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211d25d635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211d25d635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211d25d635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211d25d63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211d25d63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211d25d63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211d25d635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211d25d635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211d25d635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211d25d635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211d25d63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211d25d63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 true p</a:t>
            </a:r>
            <a:endParaRPr/>
          </a:p>
          <a:p>
            <a:pPr indent="0" lvl="0" marL="0" rtl="0" algn="l">
              <a:spcBef>
                <a:spcPts val="0"/>
              </a:spcBef>
              <a:spcAft>
                <a:spcPts val="0"/>
              </a:spcAft>
              <a:buNone/>
            </a:pPr>
            <a:r>
              <a:rPr lang="en"/>
              <a:t>R sensitivity</a:t>
            </a:r>
            <a:endParaRPr/>
          </a:p>
          <a:p>
            <a:pPr indent="0" lvl="0" marL="0" rtl="0" algn="l">
              <a:spcBef>
                <a:spcPts val="0"/>
              </a:spcBef>
              <a:spcAft>
                <a:spcPts val="0"/>
              </a:spcAft>
              <a:buNone/>
            </a:pPr>
            <a:r>
              <a:rPr lang="en"/>
              <a:t>F-1 precision and recall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211d25d635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211d25d635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211d25d635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211d25d635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211d25d63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211d25d63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211d25d63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211d25d63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211d25d63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211d25d635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211d25d635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211d25d635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Bcause class imbalance, knn is worst, ann random forest dcent across,</a:t>
            </a:r>
            <a:endParaRPr/>
          </a:p>
          <a:p>
            <a:pPr indent="0" lvl="0" marL="0" rtl="0" algn="l">
              <a:spcBef>
                <a:spcPts val="0"/>
              </a:spcBef>
              <a:spcAft>
                <a:spcPts val="0"/>
              </a:spcAft>
              <a:buNone/>
            </a:pPr>
            <a:r>
              <a:rPr lang="en"/>
              <a:t>Random not scale, intensive</a:t>
            </a:r>
            <a:endParaRPr/>
          </a:p>
          <a:p>
            <a:pPr indent="0" lvl="0" marL="0" rtl="0" algn="l">
              <a:spcBef>
                <a:spcPts val="0"/>
              </a:spcBef>
              <a:spcAft>
                <a:spcPts val="0"/>
              </a:spcAft>
              <a:buNone/>
            </a:pPr>
            <a:r>
              <a:rPr lang="en"/>
              <a:t>Knn scale well, overfit</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211d25d635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211d25d635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211d25d63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211d25d63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title"/>
          </p:nvPr>
        </p:nvSpPr>
        <p:spPr>
          <a:xfrm>
            <a:off x="1388625" y="772725"/>
            <a:ext cx="6366900" cy="186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Predicting Outcomes of Breast Cancer Patients</a:t>
            </a:r>
            <a:endParaRPr sz="4000"/>
          </a:p>
        </p:txBody>
      </p:sp>
      <p:sp>
        <p:nvSpPr>
          <p:cNvPr id="278" name="Google Shape;278;p13"/>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600"/>
              <a:t>Urmee D., Chloe S., Anthony T., Chiemeka N., Maitrayee D.</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Biological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800"/>
              <a:t>Introduction to Invasive Lobular and Ductal Carcinoma and the genetic study involved</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ctrTitle"/>
          </p:nvPr>
        </p:nvSpPr>
        <p:spPr>
          <a:xfrm>
            <a:off x="824000" y="1613825"/>
            <a:ext cx="5060100" cy="18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000"/>
              <a:t>Breast Cancer Background</a:t>
            </a:r>
            <a:endParaRPr sz="5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type="title"/>
          </p:nvPr>
        </p:nvSpPr>
        <p:spPr>
          <a:xfrm>
            <a:off x="1227600" y="750975"/>
            <a:ext cx="4817100" cy="69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ILC and IDC Breast Cancer</a:t>
            </a:r>
            <a:endParaRPr/>
          </a:p>
        </p:txBody>
      </p:sp>
      <p:sp>
        <p:nvSpPr>
          <p:cNvPr id="294" name="Google Shape;294;p16"/>
          <p:cNvSpPr txBox="1"/>
          <p:nvPr>
            <p:ph idx="1" type="body"/>
          </p:nvPr>
        </p:nvSpPr>
        <p:spPr>
          <a:xfrm>
            <a:off x="5808600" y="903375"/>
            <a:ext cx="3174600" cy="4212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More prevalent in females</a:t>
            </a:r>
            <a:endParaRPr sz="1800"/>
          </a:p>
          <a:p>
            <a:pPr indent="-342900" lvl="0" marL="457200" rtl="0" algn="l">
              <a:spcBef>
                <a:spcPts val="0"/>
              </a:spcBef>
              <a:spcAft>
                <a:spcPts val="0"/>
              </a:spcAft>
              <a:buSzPts val="1800"/>
              <a:buChar char="●"/>
            </a:pPr>
            <a:r>
              <a:rPr lang="en" sz="1800"/>
              <a:t>In women with cancer, </a:t>
            </a:r>
            <a:r>
              <a:rPr lang="en" sz="1800"/>
              <a:t>1/3</a:t>
            </a:r>
            <a:r>
              <a:rPr lang="en" sz="1800"/>
              <a:t> are breast cancer</a:t>
            </a:r>
            <a:endParaRPr sz="1800"/>
          </a:p>
          <a:p>
            <a:pPr indent="-342900" lvl="0" marL="457200" rtl="0" algn="l">
              <a:spcBef>
                <a:spcPts val="0"/>
              </a:spcBef>
              <a:spcAft>
                <a:spcPts val="0"/>
              </a:spcAft>
              <a:buSzPts val="1800"/>
              <a:buChar char="●"/>
            </a:pPr>
            <a:r>
              <a:rPr lang="en" sz="1800"/>
              <a:t>IDC: 1st most common</a:t>
            </a:r>
            <a:endParaRPr sz="1800"/>
          </a:p>
          <a:p>
            <a:pPr indent="-342900" lvl="1" marL="914400" rtl="0" algn="l">
              <a:spcBef>
                <a:spcPts val="0"/>
              </a:spcBef>
              <a:spcAft>
                <a:spcPts val="0"/>
              </a:spcAft>
              <a:buSzPts val="1800"/>
              <a:buChar char="○"/>
            </a:pPr>
            <a:r>
              <a:rPr lang="en" sz="1800"/>
              <a:t>75-80%</a:t>
            </a:r>
            <a:endParaRPr sz="1800"/>
          </a:p>
          <a:p>
            <a:pPr indent="-342900" lvl="0" marL="457200" rtl="0" algn="l">
              <a:spcBef>
                <a:spcPts val="0"/>
              </a:spcBef>
              <a:spcAft>
                <a:spcPts val="0"/>
              </a:spcAft>
              <a:buSzPts val="1800"/>
              <a:buChar char="●"/>
            </a:pPr>
            <a:r>
              <a:rPr lang="en" sz="1800"/>
              <a:t>ILC: 2nd most common </a:t>
            </a:r>
            <a:endParaRPr sz="1800"/>
          </a:p>
          <a:p>
            <a:pPr indent="-342900" lvl="1" marL="914400" rtl="0" algn="l">
              <a:spcBef>
                <a:spcPts val="0"/>
              </a:spcBef>
              <a:spcAft>
                <a:spcPts val="0"/>
              </a:spcAft>
              <a:buSzPts val="1800"/>
              <a:buChar char="○"/>
            </a:pPr>
            <a:r>
              <a:rPr lang="en" sz="1800"/>
              <a:t>10-15%</a:t>
            </a:r>
            <a:endParaRPr sz="1800"/>
          </a:p>
          <a:p>
            <a:pPr indent="-342900" lvl="0" marL="457200" rtl="0" algn="l">
              <a:spcBef>
                <a:spcPts val="0"/>
              </a:spcBef>
              <a:spcAft>
                <a:spcPts val="0"/>
              </a:spcAft>
              <a:buSzPts val="1800"/>
              <a:buChar char="●"/>
            </a:pPr>
            <a:r>
              <a:rPr lang="en" sz="1800"/>
              <a:t>Incidence rates have increased</a:t>
            </a:r>
            <a:endParaRPr sz="1800"/>
          </a:p>
          <a:p>
            <a:pPr indent="-342900" lvl="0" marL="457200" rtl="0" algn="l">
              <a:spcBef>
                <a:spcPts val="0"/>
              </a:spcBef>
              <a:spcAft>
                <a:spcPts val="0"/>
              </a:spcAft>
              <a:buSzPts val="1800"/>
              <a:buChar char="●"/>
            </a:pPr>
            <a:r>
              <a:rPr lang="en" sz="1800"/>
              <a:t>&gt;40,000 individuals die every year</a:t>
            </a:r>
            <a:endParaRPr sz="1800"/>
          </a:p>
        </p:txBody>
      </p:sp>
      <p:pic>
        <p:nvPicPr>
          <p:cNvPr id="295" name="Google Shape;295;p16"/>
          <p:cNvPicPr preferRelativeResize="0"/>
          <p:nvPr/>
        </p:nvPicPr>
        <p:blipFill>
          <a:blip r:embed="rId3">
            <a:alphaModFix/>
          </a:blip>
          <a:stretch>
            <a:fillRect/>
          </a:stretch>
        </p:blipFill>
        <p:spPr>
          <a:xfrm>
            <a:off x="478279" y="1649725"/>
            <a:ext cx="4877450" cy="32222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7"/>
          <p:cNvSpPr txBox="1"/>
          <p:nvPr>
            <p:ph type="ctrTitle"/>
          </p:nvPr>
        </p:nvSpPr>
        <p:spPr>
          <a:xfrm>
            <a:off x="824000" y="1613825"/>
            <a:ext cx="53001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5000"/>
              <a:t>Dataset </a:t>
            </a:r>
            <a:r>
              <a:rPr lang="en" sz="5000"/>
              <a:t>Description</a:t>
            </a:r>
            <a:endParaRPr sz="5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ph idx="1" type="body"/>
          </p:nvPr>
        </p:nvSpPr>
        <p:spPr>
          <a:xfrm>
            <a:off x="597350" y="1559725"/>
            <a:ext cx="4164600" cy="3364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solidFill>
                  <a:srgbClr val="3C4043"/>
                </a:solidFill>
              </a:rPr>
              <a:t>705 breast cancer samples.</a:t>
            </a:r>
            <a:endParaRPr sz="1800">
              <a:solidFill>
                <a:srgbClr val="3C4043"/>
              </a:solidFill>
            </a:endParaRPr>
          </a:p>
          <a:p>
            <a:pPr indent="-342900" lvl="1" marL="914400" rtl="0" algn="l">
              <a:spcBef>
                <a:spcPts val="0"/>
              </a:spcBef>
              <a:spcAft>
                <a:spcPts val="0"/>
              </a:spcAft>
              <a:buClr>
                <a:srgbClr val="3C4043"/>
              </a:buClr>
              <a:buSzPts val="1800"/>
              <a:buChar char="○"/>
            </a:pPr>
            <a:r>
              <a:rPr lang="en" sz="1800">
                <a:solidFill>
                  <a:srgbClr val="3C4043"/>
                </a:solidFill>
              </a:rPr>
              <a:t>611 patients survived, 94 died</a:t>
            </a:r>
            <a:endParaRPr sz="1800">
              <a:solidFill>
                <a:srgbClr val="3C4043"/>
              </a:solidFill>
            </a:endParaRPr>
          </a:p>
          <a:p>
            <a:pPr indent="-342900" lvl="0" marL="457200" rtl="0" algn="l">
              <a:spcBef>
                <a:spcPts val="0"/>
              </a:spcBef>
              <a:spcAft>
                <a:spcPts val="0"/>
              </a:spcAft>
              <a:buClr>
                <a:srgbClr val="3C4043"/>
              </a:buClr>
              <a:buSzPts val="1800"/>
              <a:buChar char="●"/>
            </a:pPr>
            <a:r>
              <a:rPr lang="en" sz="1800">
                <a:solidFill>
                  <a:srgbClr val="3C4043"/>
                </a:solidFill>
              </a:rPr>
              <a:t>Four different omics data types:</a:t>
            </a:r>
            <a:endParaRPr sz="1800">
              <a:solidFill>
                <a:srgbClr val="3C4043"/>
              </a:solidFill>
            </a:endParaRPr>
          </a:p>
          <a:p>
            <a:pPr indent="-342900" lvl="1" marL="914400" rtl="0" algn="l">
              <a:spcBef>
                <a:spcPts val="0"/>
              </a:spcBef>
              <a:spcAft>
                <a:spcPts val="0"/>
              </a:spcAft>
              <a:buClr>
                <a:srgbClr val="3C4043"/>
              </a:buClr>
              <a:buSzPts val="1800"/>
              <a:buChar char="○"/>
            </a:pPr>
            <a:r>
              <a:rPr lang="en" sz="1800">
                <a:solidFill>
                  <a:srgbClr val="3C4043"/>
                </a:solidFill>
              </a:rPr>
              <a:t>cn: copy number variations (n=860)</a:t>
            </a:r>
            <a:endParaRPr sz="1800">
              <a:solidFill>
                <a:srgbClr val="3C4043"/>
              </a:solidFill>
            </a:endParaRPr>
          </a:p>
          <a:p>
            <a:pPr indent="-342900" lvl="1" marL="914400" rtl="0" algn="l">
              <a:spcBef>
                <a:spcPts val="0"/>
              </a:spcBef>
              <a:spcAft>
                <a:spcPts val="0"/>
              </a:spcAft>
              <a:buClr>
                <a:srgbClr val="3C4043"/>
              </a:buClr>
              <a:buSzPts val="1800"/>
              <a:buChar char="○"/>
            </a:pPr>
            <a:r>
              <a:rPr lang="en" sz="1800">
                <a:solidFill>
                  <a:srgbClr val="3C4043"/>
                </a:solidFill>
              </a:rPr>
              <a:t>mu: mutations (n=249)</a:t>
            </a:r>
            <a:endParaRPr sz="1800">
              <a:solidFill>
                <a:srgbClr val="3C4043"/>
              </a:solidFill>
            </a:endParaRPr>
          </a:p>
          <a:p>
            <a:pPr indent="-342900" lvl="1" marL="914400" rtl="0" algn="l">
              <a:spcBef>
                <a:spcPts val="0"/>
              </a:spcBef>
              <a:spcAft>
                <a:spcPts val="0"/>
              </a:spcAft>
              <a:buClr>
                <a:srgbClr val="3C4043"/>
              </a:buClr>
              <a:buSzPts val="1800"/>
              <a:buChar char="○"/>
            </a:pPr>
            <a:r>
              <a:rPr lang="en" sz="1800">
                <a:solidFill>
                  <a:srgbClr val="3C4043"/>
                </a:solidFill>
              </a:rPr>
              <a:t>rs: gene expression (n=604)</a:t>
            </a:r>
            <a:endParaRPr sz="1800">
              <a:solidFill>
                <a:srgbClr val="3C4043"/>
              </a:solidFill>
            </a:endParaRPr>
          </a:p>
          <a:p>
            <a:pPr indent="-342900" lvl="1" marL="914400" rtl="0" algn="l">
              <a:spcBef>
                <a:spcPts val="0"/>
              </a:spcBef>
              <a:spcAft>
                <a:spcPts val="0"/>
              </a:spcAft>
              <a:buClr>
                <a:srgbClr val="3C4043"/>
              </a:buClr>
              <a:buSzPts val="1800"/>
              <a:buChar char="○"/>
            </a:pPr>
            <a:r>
              <a:rPr lang="en" sz="1800">
                <a:solidFill>
                  <a:srgbClr val="3C4043"/>
                </a:solidFill>
              </a:rPr>
              <a:t>pp: protein levels (n=223)</a:t>
            </a:r>
            <a:endParaRPr sz="1800">
              <a:solidFill>
                <a:srgbClr val="3C4043"/>
              </a:solidFill>
            </a:endParaRPr>
          </a:p>
          <a:p>
            <a:pPr indent="0" lvl="0" marL="0" rtl="0" algn="l">
              <a:spcBef>
                <a:spcPts val="1500"/>
              </a:spcBef>
              <a:spcAft>
                <a:spcPts val="1200"/>
              </a:spcAft>
              <a:buNone/>
            </a:pPr>
            <a:r>
              <a:t/>
            </a:r>
            <a:endParaRPr sz="1800">
              <a:solidFill>
                <a:srgbClr val="3C4043"/>
              </a:solidFill>
            </a:endParaRPr>
          </a:p>
        </p:txBody>
      </p:sp>
      <p:pic>
        <p:nvPicPr>
          <p:cNvPr id="306" name="Google Shape;306;p18"/>
          <p:cNvPicPr preferRelativeResize="0"/>
          <p:nvPr/>
        </p:nvPicPr>
        <p:blipFill>
          <a:blip r:embed="rId3">
            <a:alphaModFix/>
          </a:blip>
          <a:stretch>
            <a:fillRect/>
          </a:stretch>
        </p:blipFill>
        <p:spPr>
          <a:xfrm>
            <a:off x="4761950" y="531075"/>
            <a:ext cx="4026475" cy="4026475"/>
          </a:xfrm>
          <a:prstGeom prst="rect">
            <a:avLst/>
          </a:prstGeom>
          <a:noFill/>
          <a:ln>
            <a:noFill/>
          </a:ln>
        </p:spPr>
      </p:pic>
      <p:sp>
        <p:nvSpPr>
          <p:cNvPr id="307" name="Google Shape;307;p18"/>
          <p:cNvSpPr txBox="1"/>
          <p:nvPr/>
        </p:nvSpPr>
        <p:spPr>
          <a:xfrm>
            <a:off x="1278125" y="755450"/>
            <a:ext cx="361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Maven Pro"/>
                <a:ea typeface="Maven Pro"/>
                <a:cs typeface="Maven Pro"/>
                <a:sym typeface="Maven Pro"/>
              </a:rPr>
              <a:t>Dataset</a:t>
            </a:r>
            <a:endParaRPr b="1" sz="2800">
              <a:latin typeface="Maven Pro"/>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Problem Description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800"/>
              <a:t>Can ML techniques be used to accurately </a:t>
            </a:r>
            <a:endParaRPr sz="1800"/>
          </a:p>
          <a:p>
            <a:pPr indent="0" lvl="0" marL="0" rtl="0" algn="l">
              <a:spcBef>
                <a:spcPts val="0"/>
              </a:spcBef>
              <a:spcAft>
                <a:spcPts val="0"/>
              </a:spcAft>
              <a:buNone/>
            </a:pPr>
            <a:r>
              <a:rPr lang="en" sz="1800"/>
              <a:t>predict patient outcomes based on omics data?</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0"/>
          <p:cNvSpPr txBox="1"/>
          <p:nvPr>
            <p:ph type="ctrTitle"/>
          </p:nvPr>
        </p:nvSpPr>
        <p:spPr>
          <a:xfrm>
            <a:off x="824000" y="1613825"/>
            <a:ext cx="51003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5000"/>
              <a:t>Data Exploration</a:t>
            </a:r>
            <a:endParaRPr sz="5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21"/>
          <p:cNvPicPr preferRelativeResize="0"/>
          <p:nvPr/>
        </p:nvPicPr>
        <p:blipFill>
          <a:blip r:embed="rId3">
            <a:alphaModFix/>
          </a:blip>
          <a:stretch>
            <a:fillRect/>
          </a:stretch>
        </p:blipFill>
        <p:spPr>
          <a:xfrm>
            <a:off x="116675" y="511975"/>
            <a:ext cx="3896590" cy="2750925"/>
          </a:xfrm>
          <a:prstGeom prst="rect">
            <a:avLst/>
          </a:prstGeom>
          <a:noFill/>
          <a:ln>
            <a:noFill/>
          </a:ln>
        </p:spPr>
      </p:pic>
      <p:pic>
        <p:nvPicPr>
          <p:cNvPr id="323" name="Google Shape;323;p21"/>
          <p:cNvPicPr preferRelativeResize="0"/>
          <p:nvPr/>
        </p:nvPicPr>
        <p:blipFill>
          <a:blip r:embed="rId4">
            <a:alphaModFix/>
          </a:blip>
          <a:stretch>
            <a:fillRect/>
          </a:stretch>
        </p:blipFill>
        <p:spPr>
          <a:xfrm>
            <a:off x="3993905" y="511975"/>
            <a:ext cx="5048945" cy="2750925"/>
          </a:xfrm>
          <a:prstGeom prst="rect">
            <a:avLst/>
          </a:prstGeom>
          <a:noFill/>
          <a:ln>
            <a:noFill/>
          </a:ln>
        </p:spPr>
      </p:pic>
      <p:sp>
        <p:nvSpPr>
          <p:cNvPr id="324" name="Google Shape;324;p21"/>
          <p:cNvSpPr txBox="1"/>
          <p:nvPr/>
        </p:nvSpPr>
        <p:spPr>
          <a:xfrm>
            <a:off x="1318625" y="4254700"/>
            <a:ext cx="708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Nunito"/>
                <a:ea typeface="Nunito"/>
                <a:cs typeface="Nunito"/>
                <a:sym typeface="Nunito"/>
              </a:rPr>
              <a:t>Distribution of class types: died vs. survived</a:t>
            </a:r>
            <a:endParaRPr b="1" sz="1800">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22"/>
          <p:cNvSpPr txBox="1"/>
          <p:nvPr>
            <p:ph type="title"/>
          </p:nvPr>
        </p:nvSpPr>
        <p:spPr>
          <a:xfrm>
            <a:off x="1303800" y="598575"/>
            <a:ext cx="36951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Cluster Performance</a:t>
            </a:r>
            <a:endParaRPr/>
          </a:p>
        </p:txBody>
      </p:sp>
      <p:pic>
        <p:nvPicPr>
          <p:cNvPr id="330" name="Google Shape;330;p22"/>
          <p:cNvPicPr preferRelativeResize="0"/>
          <p:nvPr/>
        </p:nvPicPr>
        <p:blipFill>
          <a:blip r:embed="rId3">
            <a:alphaModFix/>
          </a:blip>
          <a:stretch>
            <a:fillRect/>
          </a:stretch>
        </p:blipFill>
        <p:spPr>
          <a:xfrm>
            <a:off x="4771650" y="230425"/>
            <a:ext cx="3345624" cy="3345624"/>
          </a:xfrm>
          <a:prstGeom prst="rect">
            <a:avLst/>
          </a:prstGeom>
          <a:noFill/>
          <a:ln>
            <a:noFill/>
          </a:ln>
        </p:spPr>
      </p:pic>
      <p:pic>
        <p:nvPicPr>
          <p:cNvPr id="331" name="Google Shape;331;p22"/>
          <p:cNvPicPr preferRelativeResize="0"/>
          <p:nvPr/>
        </p:nvPicPr>
        <p:blipFill>
          <a:blip r:embed="rId4">
            <a:alphaModFix/>
          </a:blip>
          <a:stretch>
            <a:fillRect/>
          </a:stretch>
        </p:blipFill>
        <p:spPr>
          <a:xfrm>
            <a:off x="83375" y="3684350"/>
            <a:ext cx="8361051" cy="1279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3"/>
          <p:cNvSpPr txBox="1"/>
          <p:nvPr>
            <p:ph type="ctrTitle"/>
          </p:nvPr>
        </p:nvSpPr>
        <p:spPr>
          <a:xfrm>
            <a:off x="824000" y="1690025"/>
            <a:ext cx="5389500" cy="18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000"/>
              <a:t>Quantile Normalization</a:t>
            </a:r>
            <a:endParaRPr sz="5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24"/>
          <p:cNvSpPr txBox="1"/>
          <p:nvPr>
            <p:ph type="title"/>
          </p:nvPr>
        </p:nvSpPr>
        <p:spPr>
          <a:xfrm>
            <a:off x="1303800" y="6747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Quantile Normalization?</a:t>
            </a:r>
            <a:endParaRPr/>
          </a:p>
        </p:txBody>
      </p:sp>
      <p:sp>
        <p:nvSpPr>
          <p:cNvPr id="342" name="Google Shape;342;p24"/>
          <p:cNvSpPr txBox="1"/>
          <p:nvPr>
            <p:ph idx="1" type="body"/>
          </p:nvPr>
        </p:nvSpPr>
        <p:spPr>
          <a:xfrm>
            <a:off x="1151400" y="1532850"/>
            <a:ext cx="7030500" cy="2679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Quantile normalization is a technique for making two or more distributions identical in statistical properties. </a:t>
            </a:r>
            <a:endParaRPr sz="1800"/>
          </a:p>
          <a:p>
            <a:pPr indent="-342900" lvl="0" marL="457200" rtl="0" algn="l">
              <a:spcBef>
                <a:spcPts val="1000"/>
              </a:spcBef>
              <a:spcAft>
                <a:spcPts val="0"/>
              </a:spcAft>
              <a:buSzPts val="1800"/>
              <a:buChar char="●"/>
            </a:pPr>
            <a:r>
              <a:rPr lang="en" sz="1800"/>
              <a:t>Our quantile normalization procedure involves ranking the gene of each sample by magnitude, calculating the average value for the genes occupying the same rank, and then substituting the values of all the genes in that particular rank with this average value.</a:t>
            </a:r>
            <a:endParaRPr sz="1800"/>
          </a:p>
          <a:p>
            <a:pPr indent="-342900" lvl="0" marL="457200" rtl="0" algn="l">
              <a:spcBef>
                <a:spcPts val="1000"/>
              </a:spcBef>
              <a:spcAft>
                <a:spcPts val="1000"/>
              </a:spcAft>
              <a:buSzPts val="1800"/>
              <a:buChar char="●"/>
            </a:pPr>
            <a:r>
              <a:rPr lang="en" sz="1800"/>
              <a:t>After the prior steps have been completed, the genes are reordered back into their original order.</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5"/>
          <p:cNvSpPr txBox="1"/>
          <p:nvPr>
            <p:ph type="title"/>
          </p:nvPr>
        </p:nvSpPr>
        <p:spPr>
          <a:xfrm>
            <a:off x="1227600" y="7509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Quantile Normalization on the Dataset</a:t>
            </a:r>
            <a:endParaRPr/>
          </a:p>
        </p:txBody>
      </p:sp>
      <p:sp>
        <p:nvSpPr>
          <p:cNvPr id="348" name="Google Shape;348;p25"/>
          <p:cNvSpPr txBox="1"/>
          <p:nvPr>
            <p:ph idx="1" type="body"/>
          </p:nvPr>
        </p:nvSpPr>
        <p:spPr>
          <a:xfrm>
            <a:off x="419825" y="1646800"/>
            <a:ext cx="3430500" cy="450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1800"/>
              <a:t>Before quantile normalization:</a:t>
            </a:r>
            <a:endParaRPr sz="1800"/>
          </a:p>
        </p:txBody>
      </p:sp>
      <p:sp>
        <p:nvSpPr>
          <p:cNvPr id="349" name="Google Shape;349;p25"/>
          <p:cNvSpPr txBox="1"/>
          <p:nvPr>
            <p:ph idx="2" type="body"/>
          </p:nvPr>
        </p:nvSpPr>
        <p:spPr>
          <a:xfrm>
            <a:off x="4903800" y="1646800"/>
            <a:ext cx="3430500" cy="633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After quantile normalization:</a:t>
            </a:r>
            <a:endParaRPr sz="1800"/>
          </a:p>
        </p:txBody>
      </p:sp>
      <p:pic>
        <p:nvPicPr>
          <p:cNvPr id="350" name="Google Shape;350;p25"/>
          <p:cNvPicPr preferRelativeResize="0"/>
          <p:nvPr/>
        </p:nvPicPr>
        <p:blipFill>
          <a:blip r:embed="rId3">
            <a:alphaModFix/>
          </a:blip>
          <a:stretch>
            <a:fillRect/>
          </a:stretch>
        </p:blipFill>
        <p:spPr>
          <a:xfrm>
            <a:off x="380999" y="2177487"/>
            <a:ext cx="3508151" cy="2213000"/>
          </a:xfrm>
          <a:prstGeom prst="rect">
            <a:avLst/>
          </a:prstGeom>
          <a:noFill/>
          <a:ln>
            <a:noFill/>
          </a:ln>
        </p:spPr>
      </p:pic>
      <p:pic>
        <p:nvPicPr>
          <p:cNvPr id="351" name="Google Shape;351;p25"/>
          <p:cNvPicPr preferRelativeResize="0"/>
          <p:nvPr/>
        </p:nvPicPr>
        <p:blipFill>
          <a:blip r:embed="rId4">
            <a:alphaModFix/>
          </a:blip>
          <a:stretch>
            <a:fillRect/>
          </a:stretch>
        </p:blipFill>
        <p:spPr>
          <a:xfrm>
            <a:off x="4320950" y="2177475"/>
            <a:ext cx="4442047" cy="2213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6"/>
          <p:cNvSpPr txBox="1"/>
          <p:nvPr>
            <p:ph type="title"/>
          </p:nvPr>
        </p:nvSpPr>
        <p:spPr>
          <a:xfrm>
            <a:off x="128600" y="772725"/>
            <a:ext cx="87600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000"/>
              <a:t>ML </a:t>
            </a:r>
            <a:r>
              <a:rPr lang="en" sz="5000"/>
              <a:t>Classification</a:t>
            </a:r>
            <a:r>
              <a:rPr lang="en" sz="5000"/>
              <a:t> </a:t>
            </a:r>
            <a:endParaRPr sz="5000"/>
          </a:p>
        </p:txBody>
      </p:sp>
      <p:sp>
        <p:nvSpPr>
          <p:cNvPr id="357" name="Google Shape;357;p26"/>
          <p:cNvSpPr txBox="1"/>
          <p:nvPr>
            <p:ph idx="1" type="body"/>
          </p:nvPr>
        </p:nvSpPr>
        <p:spPr>
          <a:xfrm>
            <a:off x="768000" y="2636025"/>
            <a:ext cx="7608000" cy="11112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Char char="●"/>
            </a:pPr>
            <a:r>
              <a:rPr lang="en" sz="1800"/>
              <a:t>Divided data into 80/20 train/test split, using a random seed of 53</a:t>
            </a:r>
            <a:endParaRPr sz="1800"/>
          </a:p>
          <a:p>
            <a:pPr indent="-342900" lvl="0" marL="457200" rtl="0" algn="ctr">
              <a:spcBef>
                <a:spcPts val="0"/>
              </a:spcBef>
              <a:spcAft>
                <a:spcPts val="0"/>
              </a:spcAft>
              <a:buSzPts val="1800"/>
              <a:buChar char="●"/>
            </a:pPr>
            <a:r>
              <a:rPr lang="en" sz="1800"/>
              <a:t>Used the quantile normalized omics columns as learning features, with the outcome feature (died/survived) as the target variable</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7"/>
          <p:cNvSpPr txBox="1"/>
          <p:nvPr>
            <p:ph type="title"/>
          </p:nvPr>
        </p:nvSpPr>
        <p:spPr>
          <a:xfrm>
            <a:off x="1303800" y="674775"/>
            <a:ext cx="3312000" cy="70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SVM Performance</a:t>
            </a:r>
            <a:endParaRPr/>
          </a:p>
        </p:txBody>
      </p:sp>
      <p:sp>
        <p:nvSpPr>
          <p:cNvPr id="363" name="Google Shape;363;p27"/>
          <p:cNvSpPr txBox="1"/>
          <p:nvPr>
            <p:ph idx="1" type="body"/>
          </p:nvPr>
        </p:nvSpPr>
        <p:spPr>
          <a:xfrm>
            <a:off x="1303800" y="1454900"/>
            <a:ext cx="3312000" cy="190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Linear SVM</a:t>
            </a:r>
            <a:endParaRPr sz="1800"/>
          </a:p>
          <a:p>
            <a:pPr indent="-342900" lvl="0" marL="457200" rtl="0" algn="l">
              <a:spcBef>
                <a:spcPts val="0"/>
              </a:spcBef>
              <a:spcAft>
                <a:spcPts val="0"/>
              </a:spcAft>
              <a:buSzPts val="1800"/>
              <a:buChar char="●"/>
            </a:pPr>
            <a:r>
              <a:rPr lang="en" sz="1800"/>
              <a:t>Most important predictive features:</a:t>
            </a:r>
            <a:endParaRPr sz="1800"/>
          </a:p>
          <a:p>
            <a:pPr indent="-342900" lvl="1" marL="914400" rtl="0" algn="l">
              <a:spcBef>
                <a:spcPts val="0"/>
              </a:spcBef>
              <a:spcAft>
                <a:spcPts val="0"/>
              </a:spcAft>
              <a:buSzPts val="1800"/>
              <a:buChar char="○"/>
            </a:pPr>
            <a:r>
              <a:rPr lang="en" sz="1800"/>
              <a:t>rs_TOX3</a:t>
            </a:r>
            <a:endParaRPr sz="1800"/>
          </a:p>
          <a:p>
            <a:pPr indent="-342900" lvl="1" marL="914400" rtl="0" algn="l">
              <a:spcBef>
                <a:spcPts val="0"/>
              </a:spcBef>
              <a:spcAft>
                <a:spcPts val="0"/>
              </a:spcAft>
              <a:buSzPts val="1800"/>
              <a:buChar char="○"/>
            </a:pPr>
            <a:r>
              <a:rPr lang="en" sz="1800"/>
              <a:t>rs_MMP12</a:t>
            </a:r>
            <a:endParaRPr sz="1800"/>
          </a:p>
          <a:p>
            <a:pPr indent="-342900" lvl="1" marL="914400" rtl="0" algn="l">
              <a:spcBef>
                <a:spcPts val="0"/>
              </a:spcBef>
              <a:spcAft>
                <a:spcPts val="0"/>
              </a:spcAft>
              <a:buSzPts val="1800"/>
              <a:buChar char="○"/>
            </a:pPr>
            <a:r>
              <a:rPr lang="en" sz="1800"/>
              <a:t>rs_DCX</a:t>
            </a:r>
            <a:endParaRPr sz="1800"/>
          </a:p>
        </p:txBody>
      </p:sp>
      <p:graphicFrame>
        <p:nvGraphicFramePr>
          <p:cNvPr id="364" name="Google Shape;364;p27"/>
          <p:cNvGraphicFramePr/>
          <p:nvPr/>
        </p:nvGraphicFramePr>
        <p:xfrm>
          <a:off x="1023325" y="3728450"/>
          <a:ext cx="3000000" cy="3000000"/>
        </p:xfrm>
        <a:graphic>
          <a:graphicData uri="http://schemas.openxmlformats.org/drawingml/2006/table">
            <a:tbl>
              <a:tblPr>
                <a:noFill/>
                <a:tableStyleId>{8DA04328-3F37-42D6-B8FF-E39223BF86B5}</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0.266</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0.285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0.275</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0.920</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0.913</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0.916</a:t>
                      </a:r>
                      <a:endParaRPr/>
                    </a:p>
                  </a:txBody>
                  <a:tcPr marT="91425" marB="91425" marR="91425" marL="91425"/>
                </a:tc>
              </a:tr>
            </a:tbl>
          </a:graphicData>
        </a:graphic>
      </p:graphicFrame>
      <p:pic>
        <p:nvPicPr>
          <p:cNvPr id="365" name="Google Shape;365;p27"/>
          <p:cNvPicPr preferRelativeResize="0"/>
          <p:nvPr/>
        </p:nvPicPr>
        <p:blipFill>
          <a:blip r:embed="rId3">
            <a:alphaModFix/>
          </a:blip>
          <a:stretch>
            <a:fillRect/>
          </a:stretch>
        </p:blipFill>
        <p:spPr>
          <a:xfrm>
            <a:off x="4702975" y="674775"/>
            <a:ext cx="4212425" cy="2801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8"/>
          <p:cNvSpPr txBox="1"/>
          <p:nvPr>
            <p:ph type="title"/>
          </p:nvPr>
        </p:nvSpPr>
        <p:spPr>
          <a:xfrm>
            <a:off x="1303800" y="674775"/>
            <a:ext cx="3695100" cy="7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ANN </a:t>
            </a:r>
            <a:r>
              <a:rPr lang="en"/>
              <a:t>Performance</a:t>
            </a:r>
            <a:endParaRPr/>
          </a:p>
        </p:txBody>
      </p:sp>
      <p:graphicFrame>
        <p:nvGraphicFramePr>
          <p:cNvPr id="371" name="Google Shape;371;p28"/>
          <p:cNvGraphicFramePr/>
          <p:nvPr/>
        </p:nvGraphicFramePr>
        <p:xfrm>
          <a:off x="1023325" y="1747250"/>
          <a:ext cx="3000000" cy="3000000"/>
        </p:xfrm>
        <a:graphic>
          <a:graphicData uri="http://schemas.openxmlformats.org/drawingml/2006/table">
            <a:tbl>
              <a:tblPr>
                <a:noFill/>
                <a:tableStyleId>{8DA04328-3F37-42D6-B8FF-E39223BF86B5}</a:tableStyleId>
              </a:tblPr>
              <a:tblGrid>
                <a:gridCol w="1127175"/>
                <a:gridCol w="1127175"/>
                <a:gridCol w="1127175"/>
                <a:gridCol w="1127175"/>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0.375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0.642</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0.473</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0.957</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0.881</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0.918</a:t>
                      </a:r>
                      <a:endParaRPr/>
                    </a:p>
                  </a:txBody>
                  <a:tcPr marT="91425" marB="91425" marR="91425" marL="91425"/>
                </a:tc>
              </a:tr>
            </a:tbl>
          </a:graphicData>
        </a:graphic>
      </p:graphicFrame>
      <p:sp>
        <p:nvSpPr>
          <p:cNvPr id="372" name="Google Shape;372;p28"/>
          <p:cNvSpPr txBox="1"/>
          <p:nvPr/>
        </p:nvSpPr>
        <p:spPr>
          <a:xfrm>
            <a:off x="1044775" y="1354325"/>
            <a:ext cx="469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Untuned ANN Performance</a:t>
            </a:r>
            <a:endParaRPr>
              <a:latin typeface="Nunito"/>
              <a:ea typeface="Nunito"/>
              <a:cs typeface="Nunito"/>
              <a:sym typeface="Nunito"/>
            </a:endParaRPr>
          </a:p>
        </p:txBody>
      </p:sp>
      <p:graphicFrame>
        <p:nvGraphicFramePr>
          <p:cNvPr id="373" name="Google Shape;373;p28"/>
          <p:cNvGraphicFramePr/>
          <p:nvPr/>
        </p:nvGraphicFramePr>
        <p:xfrm>
          <a:off x="1023325" y="3728450"/>
          <a:ext cx="3000000" cy="3000000"/>
        </p:xfrm>
        <a:graphic>
          <a:graphicData uri="http://schemas.openxmlformats.org/drawingml/2006/table">
            <a:tbl>
              <a:tblPr>
                <a:noFill/>
                <a:tableStyleId>{8DA04328-3F37-42D6-B8FF-E39223BF86B5}</a:tableStyleId>
              </a:tblPr>
              <a:tblGrid>
                <a:gridCol w="1127175"/>
                <a:gridCol w="1127175"/>
                <a:gridCol w="1127175"/>
                <a:gridCol w="1127175"/>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0.214</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0.3</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0.918</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0.976</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0.946</a:t>
                      </a:r>
                      <a:endParaRPr/>
                    </a:p>
                  </a:txBody>
                  <a:tcPr marT="91425" marB="91425" marR="91425" marL="91425"/>
                </a:tc>
              </a:tr>
            </a:tbl>
          </a:graphicData>
        </a:graphic>
      </p:graphicFrame>
      <p:sp>
        <p:nvSpPr>
          <p:cNvPr id="374" name="Google Shape;374;p28"/>
          <p:cNvSpPr txBox="1"/>
          <p:nvPr/>
        </p:nvSpPr>
        <p:spPr>
          <a:xfrm>
            <a:off x="1044775" y="2983875"/>
            <a:ext cx="4508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Tuned </a:t>
            </a:r>
            <a:r>
              <a:rPr lang="en">
                <a:latin typeface="Nunito"/>
                <a:ea typeface="Nunito"/>
                <a:cs typeface="Nunito"/>
                <a:sym typeface="Nunito"/>
              </a:rPr>
              <a:t>ANN Performance - </a:t>
            </a:r>
            <a:r>
              <a:rPr lang="en" sz="1200">
                <a:latin typeface="Nunito"/>
                <a:ea typeface="Nunito"/>
                <a:cs typeface="Nunito"/>
                <a:sym typeface="Nunito"/>
              </a:rPr>
              <a:t>{</a:t>
            </a:r>
            <a:r>
              <a:rPr lang="en" sz="1200">
                <a:solidFill>
                  <a:srgbClr val="212121"/>
                </a:solidFill>
                <a:highlight>
                  <a:srgbClr val="FFFFFF"/>
                </a:highlight>
                <a:latin typeface="Nunito"/>
                <a:ea typeface="Nunito"/>
                <a:cs typeface="Nunito"/>
                <a:sym typeface="Nunito"/>
              </a:rPr>
              <a:t>'activation': 'tanh', 'alpha': 0.08, 'hidden_layer_sizes': (500, 500, 500), 'learning_rate': 'adaptive', 'solver': 'sgd'}</a:t>
            </a:r>
            <a:endParaRPr sz="1200">
              <a:latin typeface="Nunito"/>
              <a:ea typeface="Nunito"/>
              <a:cs typeface="Nunito"/>
              <a:sym typeface="Nunito"/>
            </a:endParaRPr>
          </a:p>
        </p:txBody>
      </p:sp>
      <p:pic>
        <p:nvPicPr>
          <p:cNvPr id="375" name="Google Shape;375;p28"/>
          <p:cNvPicPr preferRelativeResize="0"/>
          <p:nvPr/>
        </p:nvPicPr>
        <p:blipFill rotWithShape="1">
          <a:blip r:embed="rId3">
            <a:alphaModFix/>
          </a:blip>
          <a:srcRect b="0" l="8832" r="5916" t="0"/>
          <a:stretch/>
        </p:blipFill>
        <p:spPr>
          <a:xfrm>
            <a:off x="5553475" y="1860625"/>
            <a:ext cx="3451501" cy="2666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9"/>
          <p:cNvSpPr txBox="1"/>
          <p:nvPr>
            <p:ph type="title"/>
          </p:nvPr>
        </p:nvSpPr>
        <p:spPr>
          <a:xfrm>
            <a:off x="1303800" y="598575"/>
            <a:ext cx="36951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Decision Trees</a:t>
            </a:r>
            <a:r>
              <a:rPr lang="en"/>
              <a:t> Performance</a:t>
            </a:r>
            <a:endParaRPr/>
          </a:p>
        </p:txBody>
      </p:sp>
      <p:sp>
        <p:nvSpPr>
          <p:cNvPr id="381" name="Google Shape;381;p29"/>
          <p:cNvSpPr txBox="1"/>
          <p:nvPr>
            <p:ph idx="1" type="body"/>
          </p:nvPr>
        </p:nvSpPr>
        <p:spPr>
          <a:xfrm>
            <a:off x="1303800" y="1531100"/>
            <a:ext cx="3312000" cy="1900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Max depth of 70, criterion is entropy</a:t>
            </a:r>
            <a:endParaRPr sz="1600"/>
          </a:p>
          <a:p>
            <a:pPr indent="-330200" lvl="0" marL="457200" rtl="0" algn="l">
              <a:spcBef>
                <a:spcPts val="0"/>
              </a:spcBef>
              <a:spcAft>
                <a:spcPts val="0"/>
              </a:spcAft>
              <a:buSzPts val="1600"/>
              <a:buChar char="●"/>
            </a:pPr>
            <a:r>
              <a:rPr lang="en" sz="1600"/>
              <a:t>Most important predictive features:</a:t>
            </a:r>
            <a:endParaRPr sz="1600"/>
          </a:p>
          <a:p>
            <a:pPr indent="-330200" lvl="1" marL="914400" rtl="0" algn="l">
              <a:spcBef>
                <a:spcPts val="0"/>
              </a:spcBef>
              <a:spcAft>
                <a:spcPts val="0"/>
              </a:spcAft>
              <a:buSzPts val="1600"/>
              <a:buChar char="○"/>
            </a:pPr>
            <a:r>
              <a:rPr lang="en" sz="1600"/>
              <a:t>rs_MMRN1</a:t>
            </a:r>
            <a:endParaRPr sz="1600"/>
          </a:p>
          <a:p>
            <a:pPr indent="-330200" lvl="1" marL="914400" rtl="0" algn="l">
              <a:spcBef>
                <a:spcPts val="0"/>
              </a:spcBef>
              <a:spcAft>
                <a:spcPts val="0"/>
              </a:spcAft>
              <a:buSzPts val="1600"/>
              <a:buChar char="○"/>
            </a:pPr>
            <a:r>
              <a:rPr lang="en" sz="1600"/>
              <a:t>rs_AFP</a:t>
            </a:r>
            <a:endParaRPr sz="1600"/>
          </a:p>
          <a:p>
            <a:pPr indent="-330200" lvl="1" marL="914400" rtl="0" algn="l">
              <a:spcBef>
                <a:spcPts val="0"/>
              </a:spcBef>
              <a:spcAft>
                <a:spcPts val="0"/>
              </a:spcAft>
              <a:buSzPts val="1600"/>
              <a:buChar char="○"/>
            </a:pPr>
            <a:r>
              <a:rPr lang="en" sz="1600"/>
              <a:t>rs_ANO3</a:t>
            </a:r>
            <a:endParaRPr sz="1600"/>
          </a:p>
        </p:txBody>
      </p:sp>
      <p:graphicFrame>
        <p:nvGraphicFramePr>
          <p:cNvPr id="382" name="Google Shape;382;p29"/>
          <p:cNvGraphicFramePr/>
          <p:nvPr/>
        </p:nvGraphicFramePr>
        <p:xfrm>
          <a:off x="1023325" y="3728450"/>
          <a:ext cx="3000000" cy="3000000"/>
        </p:xfrm>
        <a:graphic>
          <a:graphicData uri="http://schemas.openxmlformats.org/drawingml/2006/table">
            <a:tbl>
              <a:tblPr>
                <a:noFill/>
                <a:tableStyleId>{8DA04328-3F37-42D6-B8FF-E39223BF86B5}</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0.285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0.235</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0.917</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0.874</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0.895</a:t>
                      </a:r>
                      <a:endParaRPr/>
                    </a:p>
                  </a:txBody>
                  <a:tcPr marT="91425" marB="91425" marR="91425" marL="91425"/>
                </a:tc>
              </a:tr>
            </a:tbl>
          </a:graphicData>
        </a:graphic>
      </p:graphicFrame>
      <p:pic>
        <p:nvPicPr>
          <p:cNvPr id="383" name="Google Shape;383;p29"/>
          <p:cNvPicPr preferRelativeResize="0"/>
          <p:nvPr/>
        </p:nvPicPr>
        <p:blipFill>
          <a:blip r:embed="rId3">
            <a:alphaModFix/>
          </a:blip>
          <a:stretch>
            <a:fillRect/>
          </a:stretch>
        </p:blipFill>
        <p:spPr>
          <a:xfrm>
            <a:off x="4861150" y="690675"/>
            <a:ext cx="4054251" cy="2795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0"/>
          <p:cNvSpPr txBox="1"/>
          <p:nvPr>
            <p:ph type="title"/>
          </p:nvPr>
        </p:nvSpPr>
        <p:spPr>
          <a:xfrm>
            <a:off x="1303800" y="674775"/>
            <a:ext cx="3695100" cy="67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KNN </a:t>
            </a:r>
            <a:r>
              <a:rPr lang="en"/>
              <a:t>Performance</a:t>
            </a:r>
            <a:endParaRPr/>
          </a:p>
        </p:txBody>
      </p:sp>
      <p:graphicFrame>
        <p:nvGraphicFramePr>
          <p:cNvPr id="389" name="Google Shape;389;p30"/>
          <p:cNvGraphicFramePr/>
          <p:nvPr/>
        </p:nvGraphicFramePr>
        <p:xfrm>
          <a:off x="507425" y="1483563"/>
          <a:ext cx="3000000" cy="3000000"/>
        </p:xfrm>
        <a:graphic>
          <a:graphicData uri="http://schemas.openxmlformats.org/drawingml/2006/table">
            <a:tbl>
              <a:tblPr>
                <a:noFill/>
                <a:tableStyleId>{8DA04328-3F37-42D6-B8FF-E39223BF86B5}</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0.0</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0.0</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0.0</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t>0.901</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1.0</a:t>
                      </a:r>
                      <a:endParaRPr/>
                    </a:p>
                  </a:txBody>
                  <a:tcPr marT="91425" marB="91425" marR="91425" marL="91425"/>
                </a:tc>
                <a:tc>
                  <a:txBody>
                    <a:bodyPr/>
                    <a:lstStyle/>
                    <a:p>
                      <a:pPr indent="0" lvl="0" marL="0" rtl="0" algn="l">
                        <a:lnSpc>
                          <a:spcPct val="115000"/>
                        </a:lnSpc>
                        <a:spcBef>
                          <a:spcPts val="0"/>
                        </a:spcBef>
                        <a:spcAft>
                          <a:spcPts val="1200"/>
                        </a:spcAft>
                        <a:buNone/>
                      </a:pPr>
                      <a:r>
                        <a:rPr lang="en"/>
                        <a:t>0.9478</a:t>
                      </a:r>
                      <a:endParaRPr/>
                    </a:p>
                  </a:txBody>
                  <a:tcPr marT="91425" marB="91425" marR="91425" marL="91425"/>
                </a:tc>
              </a:tr>
            </a:tbl>
          </a:graphicData>
        </a:graphic>
      </p:graphicFrame>
      <p:sp>
        <p:nvSpPr>
          <p:cNvPr id="390" name="Google Shape;390;p30"/>
          <p:cNvSpPr txBox="1"/>
          <p:nvPr>
            <p:ph type="title"/>
          </p:nvPr>
        </p:nvSpPr>
        <p:spPr>
          <a:xfrm>
            <a:off x="1201675" y="2879150"/>
            <a:ext cx="4828800" cy="67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Naive Bayes Performance</a:t>
            </a:r>
            <a:endParaRPr/>
          </a:p>
        </p:txBody>
      </p:sp>
      <p:graphicFrame>
        <p:nvGraphicFramePr>
          <p:cNvPr id="391" name="Google Shape;391;p30"/>
          <p:cNvGraphicFramePr/>
          <p:nvPr/>
        </p:nvGraphicFramePr>
        <p:xfrm>
          <a:off x="507425" y="3649350"/>
          <a:ext cx="3000000" cy="3000000"/>
        </p:xfrm>
        <a:graphic>
          <a:graphicData uri="http://schemas.openxmlformats.org/drawingml/2006/table">
            <a:tbl>
              <a:tblPr>
                <a:noFill/>
                <a:tableStyleId>{8DA04328-3F37-42D6-B8FF-E39223BF86B5}</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0.375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0.643</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0.474</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t>0.957</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0.882</a:t>
                      </a:r>
                      <a:endParaRPr/>
                    </a:p>
                  </a:txBody>
                  <a:tcPr marT="91425" marB="91425" marR="91425" marL="91425"/>
                </a:tc>
                <a:tc>
                  <a:txBody>
                    <a:bodyPr/>
                    <a:lstStyle/>
                    <a:p>
                      <a:pPr indent="0" lvl="0" marL="0" rtl="0" algn="l">
                        <a:lnSpc>
                          <a:spcPct val="115000"/>
                        </a:lnSpc>
                        <a:spcBef>
                          <a:spcPts val="0"/>
                        </a:spcBef>
                        <a:spcAft>
                          <a:spcPts val="1200"/>
                        </a:spcAft>
                        <a:buNone/>
                      </a:pPr>
                      <a:r>
                        <a:rPr lang="en"/>
                        <a:t>0.918</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1"/>
          <p:cNvSpPr txBox="1"/>
          <p:nvPr>
            <p:ph type="title"/>
          </p:nvPr>
        </p:nvSpPr>
        <p:spPr>
          <a:xfrm>
            <a:off x="1312950" y="614225"/>
            <a:ext cx="3141300" cy="159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Random Forest Performance</a:t>
            </a:r>
            <a:endParaRPr/>
          </a:p>
        </p:txBody>
      </p:sp>
      <p:sp>
        <p:nvSpPr>
          <p:cNvPr id="397" name="Google Shape;397;p31"/>
          <p:cNvSpPr txBox="1"/>
          <p:nvPr>
            <p:ph idx="1" type="body"/>
          </p:nvPr>
        </p:nvSpPr>
        <p:spPr>
          <a:xfrm>
            <a:off x="1303800" y="2155050"/>
            <a:ext cx="3312000" cy="663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Max Depth = 3</a:t>
            </a:r>
            <a:endParaRPr sz="1800"/>
          </a:p>
          <a:p>
            <a:pPr indent="0" lvl="0" marL="457200" rtl="0" algn="l">
              <a:spcBef>
                <a:spcPts val="1200"/>
              </a:spcBef>
              <a:spcAft>
                <a:spcPts val="1200"/>
              </a:spcAft>
              <a:buNone/>
            </a:pPr>
            <a:r>
              <a:t/>
            </a:r>
            <a:endParaRPr sz="1800"/>
          </a:p>
        </p:txBody>
      </p:sp>
      <p:graphicFrame>
        <p:nvGraphicFramePr>
          <p:cNvPr id="398" name="Google Shape;398;p31"/>
          <p:cNvGraphicFramePr/>
          <p:nvPr/>
        </p:nvGraphicFramePr>
        <p:xfrm>
          <a:off x="1023325" y="3728450"/>
          <a:ext cx="3000000" cy="3000000"/>
        </p:xfrm>
        <a:graphic>
          <a:graphicData uri="http://schemas.openxmlformats.org/drawingml/2006/table">
            <a:tbl>
              <a:tblPr>
                <a:noFill/>
                <a:tableStyleId>{8DA04328-3F37-42D6-B8FF-E39223BF86B5}</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t>Class</a:t>
                      </a:r>
                      <a:endParaRPr b="1"/>
                    </a:p>
                  </a:txBody>
                  <a:tcPr marT="91425" marB="91425" marR="91425" marL="91425"/>
                </a:tc>
                <a:tc>
                  <a:txBody>
                    <a:bodyPr/>
                    <a:lstStyle/>
                    <a:p>
                      <a:pPr indent="0" lvl="0" marL="0" rtl="0" algn="l">
                        <a:spcBef>
                          <a:spcPts val="0"/>
                        </a:spcBef>
                        <a:spcAft>
                          <a:spcPts val="0"/>
                        </a:spcAft>
                        <a:buNone/>
                      </a:pPr>
                      <a:r>
                        <a:rPr b="1" lang="en"/>
                        <a:t>Precision</a:t>
                      </a:r>
                      <a:endParaRPr b="1"/>
                    </a:p>
                  </a:txBody>
                  <a:tcPr marT="91425" marB="91425" marR="91425" marL="91425"/>
                </a:tc>
                <a:tc>
                  <a:txBody>
                    <a:bodyPr/>
                    <a:lstStyle/>
                    <a:p>
                      <a:pPr indent="0" lvl="0" marL="0" rtl="0" algn="l">
                        <a:spcBef>
                          <a:spcPts val="0"/>
                        </a:spcBef>
                        <a:spcAft>
                          <a:spcPts val="0"/>
                        </a:spcAft>
                        <a:buNone/>
                      </a:pPr>
                      <a:r>
                        <a:rPr b="1" lang="en"/>
                        <a:t>Recall</a:t>
                      </a:r>
                      <a:endParaRPr b="1"/>
                    </a:p>
                  </a:txBody>
                  <a:tcPr marT="91425" marB="91425" marR="91425" marL="91425"/>
                </a:tc>
                <a:tc>
                  <a:txBody>
                    <a:bodyPr/>
                    <a:lstStyle/>
                    <a:p>
                      <a:pPr indent="0" lvl="0" marL="0" rtl="0" algn="l">
                        <a:spcBef>
                          <a:spcPts val="0"/>
                        </a:spcBef>
                        <a:spcAft>
                          <a:spcPts val="0"/>
                        </a:spcAft>
                        <a:buNone/>
                      </a:pPr>
                      <a:r>
                        <a:rPr b="1" lang="en"/>
                        <a:t>F-1 Score</a:t>
                      </a:r>
                      <a:endParaRPr b="1"/>
                    </a:p>
                  </a:txBody>
                  <a:tcPr marT="91425" marB="91425" marR="91425" marL="91425"/>
                </a:tc>
              </a:tr>
              <a:tr h="381000">
                <a:tc>
                  <a:txBody>
                    <a:bodyPr/>
                    <a:lstStyle/>
                    <a:p>
                      <a:pPr indent="0" lvl="0" marL="0" rtl="0" algn="l">
                        <a:spcBef>
                          <a:spcPts val="0"/>
                        </a:spcBef>
                        <a:spcAft>
                          <a:spcPts val="0"/>
                        </a:spcAft>
                        <a:buNone/>
                      </a:pPr>
                      <a:r>
                        <a:rPr lang="en"/>
                        <a:t>Died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0.75</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0.316</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0.444</a:t>
                      </a:r>
                      <a:endParaRPr/>
                    </a:p>
                  </a:txBody>
                  <a:tcPr marT="91425" marB="91425" marR="91425" marL="91425"/>
                </a:tc>
              </a:tr>
              <a:tr h="381000">
                <a:tc>
                  <a:txBody>
                    <a:bodyPr/>
                    <a:lstStyle/>
                    <a:p>
                      <a:pPr indent="0" lvl="0" marL="0" rtl="0" algn="l">
                        <a:spcBef>
                          <a:spcPts val="0"/>
                        </a:spcBef>
                        <a:spcAft>
                          <a:spcPts val="0"/>
                        </a:spcAft>
                        <a:buNone/>
                      </a:pPr>
                      <a:r>
                        <a:rPr lang="en"/>
                        <a:t>Survived</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0.923</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0.987</a:t>
                      </a:r>
                      <a:endParaRPr/>
                    </a:p>
                  </a:txBody>
                  <a:tcPr marT="91425" marB="91425" marR="91425" marL="91425"/>
                </a:tc>
                <a:tc>
                  <a:txBody>
                    <a:bodyPr/>
                    <a:lstStyle/>
                    <a:p>
                      <a:pPr indent="0" lvl="0" marL="0" rtl="0" algn="l">
                        <a:lnSpc>
                          <a:spcPct val="115000"/>
                        </a:lnSpc>
                        <a:spcBef>
                          <a:spcPts val="0"/>
                        </a:spcBef>
                        <a:spcAft>
                          <a:spcPts val="1200"/>
                        </a:spcAft>
                        <a:buNone/>
                      </a:pPr>
                      <a:r>
                        <a:rPr lang="en">
                          <a:solidFill>
                            <a:srgbClr val="212121"/>
                          </a:solidFill>
                          <a:highlight>
                            <a:srgbClr val="FFFFFF"/>
                          </a:highlight>
                        </a:rPr>
                        <a:t>0.954</a:t>
                      </a:r>
                      <a:endParaRPr/>
                    </a:p>
                  </a:txBody>
                  <a:tcPr marT="91425" marB="91425" marR="91425" marL="91425"/>
                </a:tc>
              </a:tr>
            </a:tbl>
          </a:graphicData>
        </a:graphic>
      </p:graphicFrame>
      <p:pic>
        <p:nvPicPr>
          <p:cNvPr id="399" name="Google Shape;399;p31"/>
          <p:cNvPicPr preferRelativeResize="0"/>
          <p:nvPr/>
        </p:nvPicPr>
        <p:blipFill rotWithShape="1">
          <a:blip r:embed="rId3">
            <a:alphaModFix/>
          </a:blip>
          <a:srcRect b="0" l="0" r="0" t="2075"/>
          <a:stretch/>
        </p:blipFill>
        <p:spPr>
          <a:xfrm>
            <a:off x="5549875" y="235275"/>
            <a:ext cx="2576625" cy="3352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2"/>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405" name="Google Shape;405;p32"/>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3"/>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411" name="Google Shape;411;p33"/>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417" name="Google Shape;417;p3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